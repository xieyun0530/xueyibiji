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docProps/custom.xml" ContentType="application/vnd.openxmlformats-officedocument.custom-propertie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tags/tag3.xml" ContentType="application/vnd.openxmlformats-officedocument.presentationml.tags+xml"/>
  <Default Extension="jpeg" ContentType="image/jpeg"/>
  <Override PartName="/ppt/tags/tag39.xml" ContentType="application/vnd.openxmlformats-officedocument.presentationml.tags+xml"/>
  <Override PartName="/ppt/tags/tag59.xml" ContentType="application/vnd.openxmlformats-officedocument.presentationml.tags+xml"/>
  <Override PartName="/ppt/tags/tag68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ppt/tags/tag75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tags/tag73.xml" ContentType="application/vnd.openxmlformats-officedocument.presentationml.tags+xml"/>
  <Default Extension="gif" ContentType="image/gif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71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420" r:id="rId2"/>
    <p:sldId id="421" r:id="rId3"/>
    <p:sldId id="422" r:id="rId4"/>
    <p:sldId id="423" r:id="rId5"/>
    <p:sldId id="424" r:id="rId6"/>
    <p:sldId id="425" r:id="rId7"/>
    <p:sldId id="426" r:id="rId8"/>
    <p:sldId id="410" r:id="rId9"/>
    <p:sldId id="427" r:id="rId10"/>
    <p:sldId id="428" r:id="rId11"/>
    <p:sldId id="396" r:id="rId12"/>
    <p:sldId id="411" r:id="rId13"/>
    <p:sldId id="429" r:id="rId14"/>
    <p:sldId id="430" r:id="rId15"/>
    <p:sldId id="431" r:id="rId16"/>
    <p:sldId id="433" r:id="rId17"/>
    <p:sldId id="434" r:id="rId18"/>
    <p:sldId id="437" r:id="rId19"/>
    <p:sldId id="438" r:id="rId20"/>
    <p:sldId id="435" r:id="rId21"/>
    <p:sldId id="436" r:id="rId22"/>
    <p:sldId id="440" r:id="rId23"/>
    <p:sldId id="441" r:id="rId24"/>
    <p:sldId id="442" r:id="rId25"/>
    <p:sldId id="443" r:id="rId26"/>
    <p:sldId id="444" r:id="rId27"/>
    <p:sldId id="445" r:id="rId28"/>
    <p:sldId id="447" r:id="rId29"/>
    <p:sldId id="448" r:id="rId30"/>
    <p:sldId id="449" r:id="rId31"/>
    <p:sldId id="450" r:id="rId32"/>
    <p:sldId id="451" r:id="rId33"/>
    <p:sldId id="453" r:id="rId34"/>
    <p:sldId id="454" r:id="rId35"/>
    <p:sldId id="455" r:id="rId36"/>
    <p:sldId id="456" r:id="rId37"/>
    <p:sldId id="457" r:id="rId38"/>
    <p:sldId id="458" r:id="rId39"/>
    <p:sldId id="459" r:id="rId40"/>
  </p:sldIdLst>
  <p:sldSz cx="10980738" cy="7939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781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-187" y="-96"/>
      </p:cViewPr>
      <p:guideLst>
        <p:guide orient="horz" pos="2501"/>
        <p:guide pos="34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8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2019/11/3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42986-7278-4353-98A2-826C12DEB039}" type="datetimeFigureOut">
              <a:rPr lang="zh-CN" altLang="en-US" smtClean="0"/>
              <a:pPr/>
              <a:t>2019/11/3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95400" y="1143000"/>
            <a:ext cx="4267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86AFD-4707-4CD9-9835-ABA1131554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2019/11/3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Users\dev\Desktop\xx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79606" y="144347"/>
            <a:ext cx="835716" cy="107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49037" y="317931"/>
            <a:ext cx="9882664" cy="1323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9037" y="1852457"/>
            <a:ext cx="9882664" cy="5239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9037" y="7358361"/>
            <a:ext cx="2562172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C5D1-AD16-4B01-871F-DE047A6CFB67}" type="datetimeFigureOut">
              <a:rPr lang="zh-CN" altLang="en-US" smtClean="0"/>
              <a:pPr/>
              <a:t>2019/11/3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51752" y="7358361"/>
            <a:ext cx="3477234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9529" y="7358361"/>
            <a:ext cx="2562172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4.png"/><Relationship Id="rId5" Type="http://schemas.openxmlformats.org/officeDocument/2006/relationships/tags" Target="../tags/tag10.xml"/><Relationship Id="rId10" Type="http://schemas.openxmlformats.org/officeDocument/2006/relationships/image" Target="../media/image3.gif"/><Relationship Id="rId4" Type="http://schemas.openxmlformats.org/officeDocument/2006/relationships/tags" Target="../tags/tag9.xml"/><Relationship Id="rId9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0.png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3.gif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3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15.png"/><Relationship Id="rId4" Type="http://schemas.openxmlformats.org/officeDocument/2006/relationships/image" Target="../media/image3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7.png"/><Relationship Id="rId4" Type="http://schemas.openxmlformats.org/officeDocument/2006/relationships/image" Target="../media/image3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image" Target="../media/image3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3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18.png"/><Relationship Id="rId4" Type="http://schemas.openxmlformats.org/officeDocument/2006/relationships/image" Target="../media/image3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0.png"/><Relationship Id="rId4" Type="http://schemas.openxmlformats.org/officeDocument/2006/relationships/image" Target="../media/image3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21.png"/><Relationship Id="rId4" Type="http://schemas.openxmlformats.org/officeDocument/2006/relationships/image" Target="../media/image3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image" Target="../media/image3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3.gif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image" Target="../media/image3.gi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image" Target="../media/image3.gi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image" Target="../media/image3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_文本框 21"/>
          <p:cNvSpPr txBox="1"/>
          <p:nvPr>
            <p:custDataLst>
              <p:tags r:id="rId1"/>
            </p:custDataLst>
          </p:nvPr>
        </p:nvSpPr>
        <p:spPr>
          <a:xfrm>
            <a:off x="2761040" y="2572120"/>
            <a:ext cx="623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8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endParaRPr lang="en-US" altLang="zh-CN" sz="4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PA_圆角矩形 22"/>
          <p:cNvSpPr/>
          <p:nvPr>
            <p:custDataLst>
              <p:tags r:id="rId2"/>
            </p:custDataLst>
          </p:nvPr>
        </p:nvSpPr>
        <p:spPr>
          <a:xfrm>
            <a:off x="2745185" y="4869707"/>
            <a:ext cx="5492252" cy="29777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dist" defTabSz="1219200"/>
            <a:r>
              <a:rPr lang="en-US" altLang="zh-CN" sz="1335" dirty="0" smtClean="0">
                <a:solidFill>
                  <a:srgbClr val="FFFFFF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THANK </a:t>
            </a:r>
            <a:r>
              <a:rPr lang="en-US" altLang="zh-CN" sz="1335" dirty="0">
                <a:solidFill>
                  <a:srgbClr val="FFFFFF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YOU FOR WATCHING</a:t>
            </a:r>
            <a:endParaRPr lang="zh-CN" altLang="en-US" sz="1335" dirty="0">
              <a:solidFill>
                <a:srgbClr val="FFFFFF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51526" y="6403127"/>
            <a:ext cx="3505772" cy="422151"/>
            <a:chOff x="1139058" y="5604513"/>
            <a:chExt cx="3892486" cy="364666"/>
          </a:xfrm>
        </p:grpSpPr>
        <p:grpSp>
          <p:nvGrpSpPr>
            <p:cNvPr id="3" name="PA_组合 23"/>
            <p:cNvGrpSpPr/>
            <p:nvPr>
              <p:custDataLst>
                <p:tags r:id="rId4"/>
              </p:custDataLst>
            </p:nvPr>
          </p:nvGrpSpPr>
          <p:grpSpPr>
            <a:xfrm>
              <a:off x="1139058" y="5609179"/>
              <a:ext cx="359175" cy="360000"/>
              <a:chOff x="801291" y="3535885"/>
              <a:chExt cx="219347" cy="219347"/>
            </a:xfrm>
          </p:grpSpPr>
          <p:sp>
            <p:nvSpPr>
              <p:cNvPr id="25" name="Oval 10"/>
              <p:cNvSpPr>
                <a:spLocks noChangeArrowheads="1"/>
              </p:cNvSpPr>
              <p:nvPr/>
            </p:nvSpPr>
            <p:spPr bwMode="auto">
              <a:xfrm>
                <a:off x="801291" y="3535885"/>
                <a:ext cx="219347" cy="21934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algn="dist" defTabSz="1219200"/>
                <a:endParaRPr lang="zh-CN" altLang="en-US" sz="2135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25"/>
              <p:cNvGrpSpPr/>
              <p:nvPr/>
            </p:nvGrpSpPr>
            <p:grpSpPr>
              <a:xfrm>
                <a:off x="860980" y="3583766"/>
                <a:ext cx="100336" cy="114060"/>
                <a:chOff x="860980" y="3583766"/>
                <a:chExt cx="100336" cy="114060"/>
              </a:xfrm>
            </p:grpSpPr>
            <p:sp>
              <p:nvSpPr>
                <p:cNvPr id="27" name="Freeform 12"/>
                <p:cNvSpPr>
                  <a:spLocks noEditPoints="1"/>
                </p:cNvSpPr>
                <p:nvPr/>
              </p:nvSpPr>
              <p:spPr bwMode="auto">
                <a:xfrm>
                  <a:off x="884050" y="3583766"/>
                  <a:ext cx="53830" cy="53740"/>
                </a:xfrm>
                <a:custGeom>
                  <a:avLst/>
                  <a:gdLst>
                    <a:gd name="T0" fmla="*/ 31 w 62"/>
                    <a:gd name="T1" fmla="*/ 62 h 62"/>
                    <a:gd name="T2" fmla="*/ 0 w 62"/>
                    <a:gd name="T3" fmla="*/ 31 h 62"/>
                    <a:gd name="T4" fmla="*/ 31 w 62"/>
                    <a:gd name="T5" fmla="*/ 0 h 62"/>
                    <a:gd name="T6" fmla="*/ 62 w 62"/>
                    <a:gd name="T7" fmla="*/ 31 h 62"/>
                    <a:gd name="T8" fmla="*/ 31 w 62"/>
                    <a:gd name="T9" fmla="*/ 62 h 62"/>
                    <a:gd name="T10" fmla="*/ 31 w 62"/>
                    <a:gd name="T11" fmla="*/ 11 h 62"/>
                    <a:gd name="T12" fmla="*/ 11 w 62"/>
                    <a:gd name="T13" fmla="*/ 31 h 62"/>
                    <a:gd name="T14" fmla="*/ 31 w 62"/>
                    <a:gd name="T15" fmla="*/ 51 h 62"/>
                    <a:gd name="T16" fmla="*/ 51 w 62"/>
                    <a:gd name="T17" fmla="*/ 31 h 62"/>
                    <a:gd name="T18" fmla="*/ 31 w 62"/>
                    <a:gd name="T19" fmla="*/ 11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2" h="62">
                      <a:moveTo>
                        <a:pt x="31" y="62"/>
                      </a:moveTo>
                      <a:cubicBezTo>
                        <a:pt x="14" y="62"/>
                        <a:pt x="0" y="48"/>
                        <a:pt x="0" y="31"/>
                      </a:cubicBezTo>
                      <a:cubicBezTo>
                        <a:pt x="0" y="14"/>
                        <a:pt x="14" y="0"/>
                        <a:pt x="31" y="0"/>
                      </a:cubicBezTo>
                      <a:cubicBezTo>
                        <a:pt x="48" y="0"/>
                        <a:pt x="62" y="14"/>
                        <a:pt x="62" y="31"/>
                      </a:cubicBezTo>
                      <a:cubicBezTo>
                        <a:pt x="62" y="48"/>
                        <a:pt x="48" y="62"/>
                        <a:pt x="31" y="62"/>
                      </a:cubicBezTo>
                      <a:close/>
                      <a:moveTo>
                        <a:pt x="31" y="11"/>
                      </a:moveTo>
                      <a:cubicBezTo>
                        <a:pt x="20" y="11"/>
                        <a:pt x="11" y="20"/>
                        <a:pt x="11" y="31"/>
                      </a:cubicBezTo>
                      <a:cubicBezTo>
                        <a:pt x="11" y="42"/>
                        <a:pt x="20" y="51"/>
                        <a:pt x="31" y="51"/>
                      </a:cubicBezTo>
                      <a:cubicBezTo>
                        <a:pt x="42" y="51"/>
                        <a:pt x="51" y="42"/>
                        <a:pt x="51" y="31"/>
                      </a:cubicBezTo>
                      <a:cubicBezTo>
                        <a:pt x="51" y="20"/>
                        <a:pt x="42" y="11"/>
                        <a:pt x="31" y="1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dist" defTabSz="1219200"/>
                  <a:endParaRPr lang="zh-CN" altLang="en-US" sz="2135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Freeform 13"/>
                <p:cNvSpPr/>
                <p:nvPr/>
              </p:nvSpPr>
              <p:spPr bwMode="auto">
                <a:xfrm>
                  <a:off x="860980" y="3643355"/>
                  <a:ext cx="100336" cy="54471"/>
                </a:xfrm>
                <a:custGeom>
                  <a:avLst/>
                  <a:gdLst>
                    <a:gd name="T0" fmla="*/ 111 w 116"/>
                    <a:gd name="T1" fmla="*/ 63 h 63"/>
                    <a:gd name="T2" fmla="*/ 105 w 116"/>
                    <a:gd name="T3" fmla="*/ 58 h 63"/>
                    <a:gd name="T4" fmla="*/ 58 w 116"/>
                    <a:gd name="T5" fmla="*/ 11 h 63"/>
                    <a:gd name="T6" fmla="*/ 11 w 116"/>
                    <a:gd name="T7" fmla="*/ 58 h 63"/>
                    <a:gd name="T8" fmla="*/ 6 w 116"/>
                    <a:gd name="T9" fmla="*/ 63 h 63"/>
                    <a:gd name="T10" fmla="*/ 0 w 116"/>
                    <a:gd name="T11" fmla="*/ 58 h 63"/>
                    <a:gd name="T12" fmla="*/ 58 w 116"/>
                    <a:gd name="T13" fmla="*/ 0 h 63"/>
                    <a:gd name="T14" fmla="*/ 116 w 116"/>
                    <a:gd name="T15" fmla="*/ 58 h 63"/>
                    <a:gd name="T16" fmla="*/ 111 w 116"/>
                    <a:gd name="T1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63">
                      <a:moveTo>
                        <a:pt x="111" y="63"/>
                      </a:moveTo>
                      <a:cubicBezTo>
                        <a:pt x="108" y="63"/>
                        <a:pt x="105" y="61"/>
                        <a:pt x="105" y="58"/>
                      </a:cubicBezTo>
                      <a:cubicBezTo>
                        <a:pt x="105" y="32"/>
                        <a:pt x="84" y="11"/>
                        <a:pt x="58" y="11"/>
                      </a:cubicBezTo>
                      <a:cubicBezTo>
                        <a:pt x="32" y="11"/>
                        <a:pt x="11" y="32"/>
                        <a:pt x="11" y="58"/>
                      </a:cubicBezTo>
                      <a:cubicBezTo>
                        <a:pt x="11" y="61"/>
                        <a:pt x="9" y="63"/>
                        <a:pt x="6" y="63"/>
                      </a:cubicBezTo>
                      <a:cubicBezTo>
                        <a:pt x="3" y="63"/>
                        <a:pt x="0" y="61"/>
                        <a:pt x="0" y="58"/>
                      </a:cubicBezTo>
                      <a:cubicBezTo>
                        <a:pt x="0" y="26"/>
                        <a:pt x="26" y="0"/>
                        <a:pt x="58" y="0"/>
                      </a:cubicBezTo>
                      <a:cubicBezTo>
                        <a:pt x="90" y="0"/>
                        <a:pt x="116" y="26"/>
                        <a:pt x="116" y="58"/>
                      </a:cubicBezTo>
                      <a:cubicBezTo>
                        <a:pt x="116" y="61"/>
                        <a:pt x="114" y="63"/>
                        <a:pt x="111" y="6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dist" defTabSz="1219200"/>
                  <a:endParaRPr lang="zh-CN" altLang="en-US" sz="2135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4" name="PA_文本框 1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498233" y="5604513"/>
              <a:ext cx="3533311" cy="3190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200"/>
              <a:r>
                <a:rPr lang="zh-CN" altLang="en-US" smtClean="0">
                  <a:solidFill>
                    <a:srgbClr val="333333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主讲老师</a:t>
              </a:r>
              <a:r>
                <a:rPr lang="en-US" altLang="zh-CN" smtClean="0">
                  <a:solidFill>
                    <a:srgbClr val="333333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King</a:t>
              </a:r>
              <a:r>
                <a:rPr lang="zh-CN" altLang="en-US" smtClean="0">
                  <a:solidFill>
                    <a:srgbClr val="333333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mtClean="0">
                  <a:solidFill>
                    <a:srgbClr val="333333">
                      <a:lumMod val="65000"/>
                      <a:lumOff val="3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2962938812</a:t>
              </a:r>
              <a:endParaRPr lang="en-US" altLang="zh-CN" dirty="0">
                <a:solidFill>
                  <a:srgbClr val="333333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PA_组合 20"/>
          <p:cNvGrpSpPr/>
          <p:nvPr>
            <p:custDataLst>
              <p:tags r:id="rId3"/>
            </p:custDataLst>
          </p:nvPr>
        </p:nvGrpSpPr>
        <p:grpSpPr>
          <a:xfrm>
            <a:off x="0" y="4548045"/>
            <a:ext cx="10980738" cy="314283"/>
            <a:chOff x="2190216" y="0"/>
            <a:chExt cx="7128792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pic>
        <p:nvPicPr>
          <p:cNvPr id="36" name="Picture 5" descr="C:\Users\dev\Desktop\xx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90849" y="455257"/>
            <a:ext cx="1200263" cy="154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VIP二期\消息中间件\RocketMQ\第一节\QQ图片2019102214275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0963055" cy="793908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4" y="1079760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>
              <p:custDataLst>
                <p:tags r:id="rId5"/>
              </p:custDataLst>
            </p:nvPr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6"/>
              </p:custDataLst>
            </p:nvPr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>
              <p:custDataLst>
                <p:tags r:id="rId7"/>
              </p:custDataLst>
            </p:nvPr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>
              <p:custDataLst>
                <p:tags r:id="rId8"/>
              </p:custDataLst>
            </p:nvPr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6" y="429532"/>
            <a:ext cx="3336083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en-US" altLang="zh-CN" sz="2665" dirty="0" err="1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en-US" altLang="zh-CN" sz="2665" dirty="0" smtClean="0">
              <a:solidFill>
                <a:srgbClr val="1D69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2" name="AutoShape 2" descr="https://upload-images.jianshu.io/upload_images/1856419-efd361484c60d785.png?imageMogr2/auto-orient/strip%7CimageView2/2/w/581/format/webp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277378" y="1521662"/>
            <a:ext cx="962862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10"/>
              </a:buBlip>
            </a:pPr>
            <a:r>
              <a:rPr lang="en-US" altLang="zh-CN" b="1" dirty="0" err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RocketMQ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 smtClean="0"/>
              <a:t>阿里自主研发的消息中间件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可提供异步解耦和削峰填谷的能力，也具备海量消息堆积、高吞吐、可靠重试等特性，是阿里双</a:t>
            </a:r>
            <a:r>
              <a:rPr lang="en-US" sz="1400" dirty="0" smtClean="0"/>
              <a:t> 11 </a:t>
            </a:r>
            <a:r>
              <a:rPr lang="zh-CN" altLang="en-US" sz="1400" dirty="0" smtClean="0"/>
              <a:t>使用的核心产品。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10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核心概念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zh-CN" sz="1600" dirty="0" err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NameServer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主题</a:t>
            </a:r>
            <a:r>
              <a:rPr lang="en-US" altLang="zh-CN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(Topic)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生产者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消费者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</a:t>
            </a:r>
            <a:endParaRPr lang="en-US" altLang="zh-CN" sz="16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10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整体流程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</a:pP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26" name="Picture 2" descr="E:\VIP二期\消息中间件\RocketMQ\img\RocketMQ整体.png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489325" y="2995534"/>
            <a:ext cx="7576236" cy="494355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4" y="1079760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5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  <a:r>
              <a:rPr lang="en-US" altLang="zh-CN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消息的发送</a:t>
            </a:r>
          </a:p>
        </p:txBody>
      </p:sp>
      <p:sp>
        <p:nvSpPr>
          <p:cNvPr id="10" name="矩形 9"/>
          <p:cNvSpPr/>
          <p:nvPr/>
        </p:nvSpPr>
        <p:spPr>
          <a:xfrm>
            <a:off x="430979" y="1326955"/>
            <a:ext cx="1579278" cy="43088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sz="2000" b="1" dirty="0" smtClean="0"/>
              <a:t>发送方式</a:t>
            </a:r>
            <a:endParaRPr lang="en-US" altLang="zh-CN" sz="2000" b="1" dirty="0" smtClean="0"/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/>
              <a:t>单向发送</a:t>
            </a:r>
            <a:endParaRPr lang="en-US" altLang="zh-CN" sz="1600" dirty="0" smtClean="0"/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/>
              <a:t>可靠同步发送</a:t>
            </a:r>
            <a:endParaRPr lang="en-US" altLang="zh-CN" sz="1600" dirty="0" smtClean="0"/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/>
              <a:t>可靠异步发送</a:t>
            </a:r>
            <a:endParaRPr lang="en-US" altLang="zh-CN" sz="1600" dirty="0" smtClean="0"/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/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50" name="Picture 2" descr="E:\VIP二期\消息中间件\RocketMQ\img\单向发送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48300" y="1"/>
            <a:ext cx="3756508" cy="2312732"/>
          </a:xfrm>
          <a:prstGeom prst="rect">
            <a:avLst/>
          </a:prstGeom>
          <a:noFill/>
        </p:spPr>
      </p:pic>
      <p:pic>
        <p:nvPicPr>
          <p:cNvPr id="2051" name="Picture 3" descr="E:\VIP二期\消息中间件\RocketMQ\img\可靠同步发送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05425" y="2595114"/>
            <a:ext cx="3819525" cy="2567953"/>
          </a:xfrm>
          <a:prstGeom prst="rect">
            <a:avLst/>
          </a:prstGeom>
          <a:noFill/>
        </p:spPr>
      </p:pic>
      <p:pic>
        <p:nvPicPr>
          <p:cNvPr id="2052" name="Picture 4" descr="E:\VIP二期\消息中间件\RocketMQ\img\可靠异步发送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81600" y="5339908"/>
            <a:ext cx="4047709" cy="259918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4" y="1079760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1" y="429534"/>
            <a:ext cx="3453124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  <a:r>
              <a:rPr lang="en-US" altLang="zh-CN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消息的消费</a:t>
            </a:r>
          </a:p>
        </p:txBody>
      </p:sp>
      <p:sp>
        <p:nvSpPr>
          <p:cNvPr id="9" name="矩形 8"/>
          <p:cNvSpPr/>
          <p:nvPr/>
        </p:nvSpPr>
        <p:spPr>
          <a:xfrm>
            <a:off x="429755" y="1382091"/>
            <a:ext cx="388410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基本概念</a:t>
            </a:r>
            <a:endParaRPr lang="en-US" altLang="zh-CN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 smtClean="0"/>
              <a:t>群组</a:t>
            </a:r>
            <a:endParaRPr lang="en-US" altLang="zh-CN" sz="16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 smtClean="0"/>
              <a:t>群组消费</a:t>
            </a:r>
            <a:endParaRPr lang="en-US" altLang="zh-CN" sz="16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 smtClean="0"/>
              <a:t>广播消费</a:t>
            </a:r>
            <a:endParaRPr lang="en-US" altLang="zh-CN" sz="1600" dirty="0" smtClean="0"/>
          </a:p>
        </p:txBody>
      </p:sp>
      <p:pic>
        <p:nvPicPr>
          <p:cNvPr id="44034" name="Picture 2" descr="E:\VIP二期\消息中间件\RocketMQ\img\groupid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2703" y="1401884"/>
            <a:ext cx="5739151" cy="2312216"/>
          </a:xfrm>
          <a:prstGeom prst="rect">
            <a:avLst/>
          </a:prstGeom>
          <a:noFill/>
        </p:spPr>
      </p:pic>
      <p:pic>
        <p:nvPicPr>
          <p:cNvPr id="44035" name="Picture 3" descr="E:\VIP二期\消息中间件\RocketMQ\img\groupid111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64124" y="4360950"/>
            <a:ext cx="5816360" cy="2337659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450999" y="4213418"/>
            <a:ext cx="174515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消费方式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拉模式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推模式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4" y="1079760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5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消息发送</a:t>
            </a:r>
          </a:p>
        </p:txBody>
      </p:sp>
      <p:sp>
        <p:nvSpPr>
          <p:cNvPr id="9" name="矩形 8"/>
          <p:cNvSpPr/>
          <p:nvPr/>
        </p:nvSpPr>
        <p:spPr>
          <a:xfrm>
            <a:off x="428081" y="3146332"/>
            <a:ext cx="2362747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批量消息发送</a:t>
            </a:r>
            <a:endParaRPr lang="en-US" altLang="zh-CN" b="1" dirty="0" smtClean="0"/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消息的重试</a:t>
            </a:r>
            <a:endParaRPr lang="en-US" altLang="zh-CN" b="1" dirty="0" smtClean="0"/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消息发送异常机制</a:t>
            </a:r>
            <a:endParaRPr lang="en-US" altLang="zh-CN" b="1" dirty="0" smtClean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00575" y="2944534"/>
            <a:ext cx="6108886" cy="4232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429755" y="1382091"/>
            <a:ext cx="3884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消息生产者流程</a:t>
            </a:r>
            <a:endParaRPr lang="en-US" altLang="zh-CN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4" y="1079760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5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消息消费</a:t>
            </a:r>
          </a:p>
        </p:txBody>
      </p:sp>
      <p:sp>
        <p:nvSpPr>
          <p:cNvPr id="9" name="矩形 8"/>
          <p:cNvSpPr/>
          <p:nvPr/>
        </p:nvSpPr>
        <p:spPr>
          <a:xfrm>
            <a:off x="361405" y="1547487"/>
            <a:ext cx="49725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消费者拉模式与推模式的实现</a:t>
            </a:r>
            <a:endParaRPr lang="en-US" altLang="zh-CN" b="1" dirty="0" smtClean="0"/>
          </a:p>
        </p:txBody>
      </p:sp>
      <p:sp>
        <p:nvSpPr>
          <p:cNvPr id="10" name="矩形 9"/>
          <p:cNvSpPr/>
          <p:nvPr/>
        </p:nvSpPr>
        <p:spPr>
          <a:xfrm>
            <a:off x="401180" y="3267623"/>
            <a:ext cx="3884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消息队列负载机制</a:t>
            </a:r>
            <a:endParaRPr lang="en-US" altLang="zh-CN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VIP二期\消息中间件\RocketMQ\第二节\QQ图片2019102315443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982562" cy="793908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深入消息发送</a:t>
            </a:r>
          </a:p>
        </p:txBody>
      </p:sp>
      <p:pic>
        <p:nvPicPr>
          <p:cNvPr id="2050" name="Picture 2" descr="E:\VIP二期\消息中间件\RocketMQ\img\发送流程（单机）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43116" y="1473877"/>
            <a:ext cx="6437622" cy="5969018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559536" y="1481328"/>
            <a:ext cx="1731243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5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消息发送流程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验证消息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查找路由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消息发送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</a:pPr>
            <a:r>
              <a:rPr lang="en-US" altLang="zh-CN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	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0035" y="4348222"/>
            <a:ext cx="160264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循环遍历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重试与规避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深入消息消费</a:t>
            </a:r>
          </a:p>
        </p:txBody>
      </p:sp>
      <p:sp>
        <p:nvSpPr>
          <p:cNvPr id="10" name="矩形 9"/>
          <p:cNvSpPr/>
          <p:nvPr/>
        </p:nvSpPr>
        <p:spPr>
          <a:xfrm>
            <a:off x="559535" y="1481328"/>
            <a:ext cx="3015569" cy="4139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拉模式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拉模式的缺点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推模式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长轮询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流量控制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消息队列负载与重新分布机制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消息确认</a:t>
            </a:r>
            <a:r>
              <a:rPr lang="en-US" altLang="zh-CN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(ACK) 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消费进度管理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顺序消息</a:t>
            </a:r>
          </a:p>
        </p:txBody>
      </p:sp>
      <p:sp>
        <p:nvSpPr>
          <p:cNvPr id="9" name="矩形 8"/>
          <p:cNvSpPr/>
          <p:nvPr/>
        </p:nvSpPr>
        <p:spPr>
          <a:xfrm>
            <a:off x="388087" y="1779044"/>
            <a:ext cx="1740861" cy="25391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全局顺序消息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部分顺序消息</a:t>
            </a:r>
          </a:p>
        </p:txBody>
      </p:sp>
      <p:pic>
        <p:nvPicPr>
          <p:cNvPr id="1026" name="Picture 2" descr="E:\VIP二期\消息中间件\RocketMQ\img\全局顺序消息 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17268" y="-308742"/>
            <a:ext cx="6790431" cy="3704908"/>
          </a:xfrm>
          <a:prstGeom prst="rect">
            <a:avLst/>
          </a:prstGeom>
          <a:noFill/>
        </p:spPr>
      </p:pic>
      <p:pic>
        <p:nvPicPr>
          <p:cNvPr id="1028" name="Picture 4" descr="E:\VIP二期\消息中间件\RocketMQ\img\部分顺序消息 (1)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97251" y="3635073"/>
            <a:ext cx="6988782" cy="40062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延时消息与消息过滤</a:t>
            </a:r>
          </a:p>
        </p:txBody>
      </p:sp>
      <p:sp>
        <p:nvSpPr>
          <p:cNvPr id="10" name="矩形 9"/>
          <p:cNvSpPr/>
          <p:nvPr/>
        </p:nvSpPr>
        <p:spPr>
          <a:xfrm>
            <a:off x="559535" y="1481328"/>
            <a:ext cx="1269578" cy="19082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延时消息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51" name="Picture 3" descr="E:\VIP二期\消息中间件\RocketMQ\img\延时消息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76700" y="0"/>
            <a:ext cx="6732589" cy="3948428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542378" y="3377888"/>
            <a:ext cx="2640197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表达式过滤</a:t>
            </a:r>
            <a:endParaRPr lang="en-US" altLang="zh-CN" b="1" dirty="0" smtClean="0"/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类过滤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VIP二期\消息中间件\RocketMQ\第三节\QQ图片2019102516524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978282" cy="793908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en-US" altLang="zh-CN" sz="2665" dirty="0" err="1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存储概要设计</a:t>
            </a:r>
          </a:p>
        </p:txBody>
      </p:sp>
      <p:sp>
        <p:nvSpPr>
          <p:cNvPr id="9" name="矩形 8"/>
          <p:cNvSpPr/>
          <p:nvPr/>
        </p:nvSpPr>
        <p:spPr>
          <a:xfrm>
            <a:off x="372155" y="1566389"/>
            <a:ext cx="2364430" cy="5645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b="1" dirty="0" err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RocketMQ</a:t>
            </a: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存储设计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3881" y="1900236"/>
            <a:ext cx="7071035" cy="460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en-US" altLang="zh-CN" sz="2665" dirty="0" err="1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消息存储</a:t>
            </a:r>
          </a:p>
        </p:txBody>
      </p:sp>
      <p:sp>
        <p:nvSpPr>
          <p:cNvPr id="9" name="矩形 8"/>
          <p:cNvSpPr/>
          <p:nvPr/>
        </p:nvSpPr>
        <p:spPr>
          <a:xfrm>
            <a:off x="372154" y="1566389"/>
            <a:ext cx="2423740" cy="4431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内存映射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存储文件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消费队列与索引文件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en-US" altLang="zh-CN" sz="2665" dirty="0" err="1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消息存储</a:t>
            </a:r>
          </a:p>
        </p:txBody>
      </p:sp>
      <p:sp>
        <p:nvSpPr>
          <p:cNvPr id="9" name="矩形 8"/>
          <p:cNvSpPr/>
          <p:nvPr/>
        </p:nvSpPr>
        <p:spPr>
          <a:xfrm>
            <a:off x="372155" y="1566389"/>
            <a:ext cx="1731243" cy="36779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文件刷盘机制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同步刷盘</a:t>
            </a:r>
            <a:endParaRPr lang="en-US" altLang="zh-CN" sz="16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异步刷盘</a:t>
            </a:r>
            <a:endParaRPr lang="en-US" altLang="zh-CN" sz="16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过期文件删除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en-US" altLang="zh-CN" sz="2665" dirty="0" err="1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中的事务消息</a:t>
            </a:r>
          </a:p>
        </p:txBody>
      </p:sp>
      <p:sp>
        <p:nvSpPr>
          <p:cNvPr id="9" name="矩形 8"/>
          <p:cNvSpPr/>
          <p:nvPr/>
        </p:nvSpPr>
        <p:spPr>
          <a:xfrm>
            <a:off x="370929" y="1382090"/>
            <a:ext cx="235709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事务消息实现思想</a:t>
            </a: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/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两阶段提交</a:t>
            </a:r>
            <a:endParaRPr lang="en-US" altLang="zh-CN" b="1" dirty="0" smtClean="0"/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altLang="zh-CN" b="1" dirty="0" smtClean="0"/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事务状态回查机制</a:t>
            </a:r>
            <a:endParaRPr lang="en-US" altLang="zh-CN" b="1" dirty="0" smtClean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46588" y="1563688"/>
            <a:ext cx="6259512" cy="5798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360MoveData\Users\Administrator\Documents\Tencent Files\2962938812\Image\C2C\08(RX~HQ86X~BTOD9BN[F0Z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993506" cy="793908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en-US" altLang="zh-CN" sz="2665" dirty="0" err="1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集群部署模式</a:t>
            </a:r>
          </a:p>
        </p:txBody>
      </p:sp>
      <p:sp>
        <p:nvSpPr>
          <p:cNvPr id="9" name="矩形 8"/>
          <p:cNvSpPr/>
          <p:nvPr/>
        </p:nvSpPr>
        <p:spPr>
          <a:xfrm>
            <a:off x="372155" y="1566389"/>
            <a:ext cx="358072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/>
              <a:t>集群部署模式</a:t>
            </a:r>
            <a:endParaRPr lang="en-US" altLang="zh-CN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/>
              <a:t>多主</a:t>
            </a:r>
            <a:r>
              <a:rPr lang="en-US" altLang="zh-CN" sz="1600" dirty="0" smtClean="0"/>
              <a:t>(M</a:t>
            </a:r>
            <a:r>
              <a:rPr lang="en-US" sz="1600" dirty="0" smtClean="0"/>
              <a:t>aster)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/>
              <a:t>多主</a:t>
            </a:r>
            <a:r>
              <a:rPr lang="en-US" altLang="zh-CN" sz="1600" dirty="0" smtClean="0"/>
              <a:t>(M</a:t>
            </a:r>
            <a:r>
              <a:rPr lang="en-US" sz="1600" dirty="0" smtClean="0"/>
              <a:t>aster)</a:t>
            </a:r>
            <a:r>
              <a:rPr lang="zh-CN" altLang="en-US" sz="1600" dirty="0" smtClean="0"/>
              <a:t>多从</a:t>
            </a:r>
            <a:r>
              <a:rPr lang="en-US" altLang="zh-CN" sz="1600" dirty="0" smtClean="0"/>
              <a:t>(Slave)</a:t>
            </a:r>
            <a:r>
              <a:rPr lang="zh-CN" altLang="en-US" sz="1600" dirty="0" smtClean="0"/>
              <a:t>同步</a:t>
            </a:r>
            <a:endParaRPr lang="en-US" altLang="zh-CN" sz="16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1600" dirty="0" smtClean="0"/>
              <a:t>多主</a:t>
            </a:r>
            <a:r>
              <a:rPr lang="en-US" altLang="zh-CN" sz="1600" dirty="0" smtClean="0"/>
              <a:t>(M</a:t>
            </a:r>
            <a:r>
              <a:rPr lang="en-US" sz="1600" dirty="0" smtClean="0"/>
              <a:t>aster)</a:t>
            </a:r>
            <a:r>
              <a:rPr lang="zh-CN" altLang="en-US" sz="1600" dirty="0" smtClean="0"/>
              <a:t>多从</a:t>
            </a:r>
            <a:r>
              <a:rPr lang="en-US" altLang="zh-CN" sz="1600" dirty="0" smtClean="0"/>
              <a:t>(Slave)</a:t>
            </a:r>
            <a:r>
              <a:rPr lang="zh-CN" altLang="en-US" sz="1600" dirty="0" smtClean="0"/>
              <a:t>异步</a:t>
            </a:r>
            <a:endParaRPr lang="en-US" altLang="zh-CN" sz="1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安装部署过程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dirty="0" smtClean="0"/>
              <a:t>2</a:t>
            </a:r>
            <a:r>
              <a:rPr lang="zh-CN" altLang="en-US" dirty="0" smtClean="0"/>
              <a:t>主</a:t>
            </a:r>
            <a:r>
              <a:rPr lang="en-US" altLang="zh-CN" dirty="0" smtClean="0"/>
              <a:t>(M</a:t>
            </a:r>
            <a:r>
              <a:rPr lang="en-US" dirty="0" smtClean="0"/>
              <a:t>aster)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dirty="0" smtClean="0"/>
              <a:t>2</a:t>
            </a:r>
            <a:r>
              <a:rPr lang="zh-CN" altLang="en-US" dirty="0" smtClean="0"/>
              <a:t>主</a:t>
            </a:r>
            <a:r>
              <a:rPr lang="en-US" altLang="zh-CN" dirty="0" smtClean="0"/>
              <a:t>(M</a:t>
            </a:r>
            <a:r>
              <a:rPr lang="en-US" dirty="0" smtClean="0"/>
              <a:t>aster)2</a:t>
            </a:r>
            <a:r>
              <a:rPr lang="zh-CN" altLang="en-US" dirty="0" smtClean="0"/>
              <a:t>从</a:t>
            </a:r>
            <a:r>
              <a:rPr lang="en-US" altLang="zh-CN" dirty="0" smtClean="0"/>
              <a:t>(Slave)</a:t>
            </a:r>
            <a:r>
              <a:rPr lang="zh-CN" altLang="en-US" dirty="0" smtClean="0"/>
              <a:t>同步</a:t>
            </a:r>
            <a:endParaRPr lang="en-US" altLang="zh-CN" dirty="0" smtClean="0"/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dirty="0" smtClean="0"/>
              <a:t>2</a:t>
            </a:r>
            <a:r>
              <a:rPr lang="zh-CN" altLang="en-US" dirty="0" smtClean="0"/>
              <a:t>主</a:t>
            </a:r>
            <a:r>
              <a:rPr lang="en-US" altLang="zh-CN" dirty="0" smtClean="0"/>
              <a:t>(M</a:t>
            </a:r>
            <a:r>
              <a:rPr lang="en-US" dirty="0" smtClean="0"/>
              <a:t>aster)2</a:t>
            </a:r>
            <a:r>
              <a:rPr lang="zh-CN" altLang="en-US" dirty="0" smtClean="0"/>
              <a:t>从</a:t>
            </a:r>
            <a:r>
              <a:rPr lang="en-US" altLang="zh-CN" dirty="0" smtClean="0"/>
              <a:t>(Slave)</a:t>
            </a:r>
            <a:r>
              <a:rPr lang="zh-CN" altLang="en-US" dirty="0" smtClean="0"/>
              <a:t>异步</a:t>
            </a:r>
            <a:endParaRPr lang="en-US" altLang="zh-CN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Picture 2" descr="E:\VIP二期\消息中间件\RocketMQ\img\部署架构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90950" y="2079996"/>
            <a:ext cx="7189788" cy="434937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4"/>
            <a:ext cx="5136455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en-US" altLang="zh-CN" sz="2665" dirty="0" err="1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高可用架构</a:t>
            </a:r>
          </a:p>
        </p:txBody>
      </p:sp>
      <p:sp>
        <p:nvSpPr>
          <p:cNvPr id="9" name="矩形 8"/>
          <p:cNvSpPr/>
          <p:nvPr/>
        </p:nvSpPr>
        <p:spPr>
          <a:xfrm>
            <a:off x="372155" y="1566389"/>
            <a:ext cx="1731243" cy="25391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主从复制原理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读写分离机制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50" name="Picture 2" descr="E:\VIP二期\消息中间件\RocketMQ\img\消息流程（集群）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09900" y="1936750"/>
            <a:ext cx="7740650" cy="46736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2" y="1079759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20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2"/>
            <a:ext cx="4861936" cy="4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200"/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lang="zh-CN" altLang="en-US" sz="2665" dirty="0" smtClean="0">
                <a:solidFill>
                  <a:srgbClr val="1D69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</a:t>
            </a:r>
          </a:p>
        </p:txBody>
      </p:sp>
      <p:sp>
        <p:nvSpPr>
          <p:cNvPr id="15" name="矩形 14"/>
          <p:cNvSpPr/>
          <p:nvPr/>
        </p:nvSpPr>
        <p:spPr>
          <a:xfrm>
            <a:off x="183747" y="1632161"/>
            <a:ext cx="546457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Spring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整合</a:t>
            </a:r>
            <a:r>
              <a:rPr lang="en-US" altLang="zh-CN" sz="2000" b="1" dirty="0" err="1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RocketMQ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sz="2000" b="1" dirty="0" err="1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SpringBoot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整合</a:t>
            </a:r>
            <a:r>
              <a:rPr lang="en-US" altLang="zh-CN" sz="2000" b="1" dirty="0" err="1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RocketMQ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D:\360MoveData\Users\Administrator\Documents\Tencent Files\2962938812\Image\C2C\7VX6RP[GSBGVWJO27`WJ(V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1023959" cy="793908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18610" y="4578310"/>
            <a:ext cx="7911044" cy="3217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183056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限时订单？什么时候我们需要限时订单？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0341" y="1240483"/>
            <a:ext cx="4569698" cy="3855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3"/>
            <a:ext cx="4944864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如何实现限时订单？</a:t>
            </a:r>
          </a:p>
        </p:txBody>
      </p:sp>
      <p:sp>
        <p:nvSpPr>
          <p:cNvPr id="9" name="矩形​​ 30"/>
          <p:cNvSpPr>
            <a:spLocks noChangeArrowheads="1"/>
          </p:cNvSpPr>
          <p:nvPr/>
        </p:nvSpPr>
        <p:spPr bwMode="auto">
          <a:xfrm>
            <a:off x="386115" y="1391777"/>
            <a:ext cx="2833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400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限时订单的流程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688" y="4768967"/>
            <a:ext cx="574773" cy="1422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矩形​​ 30"/>
          <p:cNvSpPr>
            <a:spLocks noChangeArrowheads="1"/>
          </p:cNvSpPr>
          <p:nvPr/>
        </p:nvSpPr>
        <p:spPr bwMode="auto">
          <a:xfrm>
            <a:off x="457200" y="3600450"/>
            <a:ext cx="3619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n"/>
            </a:pPr>
            <a:r>
              <a:rPr lang="zh-CN" altLang="en-US" sz="2400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限时订单实现的关键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3354272" y="5502229"/>
            <a:ext cx="394620" cy="18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右箭头 25"/>
          <p:cNvSpPr/>
          <p:nvPr/>
        </p:nvSpPr>
        <p:spPr>
          <a:xfrm>
            <a:off x="5387425" y="5391964"/>
            <a:ext cx="969393" cy="242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5404583" y="4972958"/>
            <a:ext cx="1205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2"/>
                </a:solidFill>
              </a:rPr>
              <a:t>进入后台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957327" y="4101862"/>
            <a:ext cx="1647111" cy="7498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保存订单</a:t>
            </a: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6957327" y="5116301"/>
            <a:ext cx="1647111" cy="7498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一些相关业务操作</a:t>
            </a:r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6957327" y="6130740"/>
            <a:ext cx="1647111" cy="74980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检查订单支付</a:t>
            </a:r>
            <a:endParaRPr lang="zh-CN" altLang="en-US"/>
          </a:p>
        </p:txBody>
      </p:sp>
      <p:sp>
        <p:nvSpPr>
          <p:cNvPr id="32" name="左大括号 31"/>
          <p:cNvSpPr/>
          <p:nvPr/>
        </p:nvSpPr>
        <p:spPr>
          <a:xfrm>
            <a:off x="6502656" y="4145969"/>
            <a:ext cx="454671" cy="270149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线形标注 1(带强调线) 33"/>
          <p:cNvSpPr/>
          <p:nvPr/>
        </p:nvSpPr>
        <p:spPr>
          <a:xfrm>
            <a:off x="3867149" y="6505575"/>
            <a:ext cx="2025409" cy="649130"/>
          </a:xfrm>
          <a:prstGeom prst="accentCallout1">
            <a:avLst>
              <a:gd name="adj1" fmla="val 20445"/>
              <a:gd name="adj2" fmla="val 110016"/>
              <a:gd name="adj3" fmla="val -26483"/>
              <a:gd name="adj4" fmla="val 15346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轮询？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871540" y="6020475"/>
            <a:ext cx="1878736" cy="1838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3808943" y="5116301"/>
            <a:ext cx="1527009" cy="7498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放入购物车</a:t>
            </a:r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33688" y="1358900"/>
            <a:ext cx="7650591" cy="210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3"/>
            <a:ext cx="2082437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轮询数据库？</a:t>
            </a:r>
          </a:p>
        </p:txBody>
      </p:sp>
      <p:sp>
        <p:nvSpPr>
          <p:cNvPr id="9" name="矩形​​ 30"/>
          <p:cNvSpPr>
            <a:spLocks noChangeArrowheads="1"/>
          </p:cNvSpPr>
          <p:nvPr/>
        </p:nvSpPr>
        <p:spPr bwMode="auto">
          <a:xfrm>
            <a:off x="357540" y="1401302"/>
            <a:ext cx="2004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好处</a:t>
            </a:r>
          </a:p>
        </p:txBody>
      </p:sp>
      <p:sp>
        <p:nvSpPr>
          <p:cNvPr id="17" name="矩形​​ 30"/>
          <p:cNvSpPr>
            <a:spLocks noChangeArrowheads="1"/>
          </p:cNvSpPr>
          <p:nvPr/>
        </p:nvSpPr>
        <p:spPr bwMode="auto">
          <a:xfrm>
            <a:off x="377536" y="2953037"/>
            <a:ext cx="11345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坏处</a:t>
            </a:r>
          </a:p>
        </p:txBody>
      </p:sp>
      <p:sp>
        <p:nvSpPr>
          <p:cNvPr id="22" name="矩形​​ 30"/>
          <p:cNvSpPr>
            <a:spLocks noChangeArrowheads="1"/>
          </p:cNvSpPr>
          <p:nvPr/>
        </p:nvSpPr>
        <p:spPr bwMode="auto">
          <a:xfrm>
            <a:off x="1078724" y="2086447"/>
            <a:ext cx="684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可行而且代码实现容易，启动一个定时任务即可</a:t>
            </a:r>
          </a:p>
        </p:txBody>
      </p:sp>
      <p:sp>
        <p:nvSpPr>
          <p:cNvPr id="23" name="矩形 22"/>
          <p:cNvSpPr/>
          <p:nvPr/>
        </p:nvSpPr>
        <p:spPr>
          <a:xfrm>
            <a:off x="123826" y="3533776"/>
            <a:ext cx="19693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dirty="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无用功</a:t>
            </a:r>
            <a:endParaRPr lang="en-US" altLang="zh-CN" dirty="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2" name="Picture 4" descr="https://ss3.bdstatic.com/70cFv8Sh_Q1YnxGkpoWK1HF6hhy/it/u=1519599755,1832438086&amp;fm=26&amp;gp=0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01782" y="3884926"/>
            <a:ext cx="3391447" cy="2879839"/>
          </a:xfrm>
          <a:prstGeom prst="rect">
            <a:avLst/>
          </a:prstGeom>
          <a:noFill/>
        </p:spPr>
      </p:pic>
      <p:sp>
        <p:nvSpPr>
          <p:cNvPr id="29" name="矩形 28"/>
          <p:cNvSpPr/>
          <p:nvPr/>
        </p:nvSpPr>
        <p:spPr>
          <a:xfrm>
            <a:off x="5327374" y="3658907"/>
            <a:ext cx="20760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处理不及时</a:t>
            </a:r>
            <a:endParaRPr lang="en-US" altLang="zh-CN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58063" y="4021137"/>
            <a:ext cx="3262312" cy="2620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A_矩形 3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9753" y="429533"/>
            <a:ext cx="5642598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en-US" altLang="zh-CN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本身提供的解决方案</a:t>
            </a:r>
          </a:p>
        </p:txBody>
      </p:sp>
      <p:grpSp>
        <p:nvGrpSpPr>
          <p:cNvPr id="2" name="PA_组合 47"/>
          <p:cNvGrpSpPr/>
          <p:nvPr>
            <p:custDataLst>
              <p:tags r:id="rId2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7" name="矩形​​ 30"/>
          <p:cNvSpPr>
            <a:spLocks noChangeArrowheads="1"/>
          </p:cNvSpPr>
          <p:nvPr/>
        </p:nvSpPr>
        <p:spPr bwMode="auto">
          <a:xfrm>
            <a:off x="5368075" y="4765888"/>
            <a:ext cx="55097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 err="1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DelayQueue</a:t>
            </a:r>
            <a:r>
              <a:rPr lang="zh-CN" altLang="en-US" sz="2400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dirty="0" smtClean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16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在延迟期满时才能从中提取元素</a:t>
            </a:r>
            <a:endParaRPr lang="en-US" altLang="zh-CN" sz="1600" dirty="0" smtClean="0">
              <a:solidFill>
                <a:schemeClr val="accent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16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存放到</a:t>
            </a:r>
            <a:r>
              <a:rPr lang="en-US" altLang="zh-CN" sz="16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DelayDeque</a:t>
            </a:r>
            <a:r>
              <a:rPr lang="zh-CN" altLang="en-US" sz="16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的元素必须继承</a:t>
            </a:r>
            <a:r>
              <a:rPr lang="en-US" altLang="zh-CN" sz="16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Delayed</a:t>
            </a:r>
            <a:r>
              <a:rPr lang="zh-CN" altLang="en-US" sz="16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接口</a:t>
            </a:r>
            <a:endParaRPr lang="en-US" altLang="zh-CN" sz="1600" dirty="0" smtClean="0">
              <a:solidFill>
                <a:schemeClr val="accent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2954" y="4524545"/>
            <a:ext cx="5025689" cy="152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矩形​​ 30"/>
          <p:cNvSpPr>
            <a:spLocks noChangeArrowheads="1"/>
          </p:cNvSpPr>
          <p:nvPr/>
        </p:nvSpPr>
        <p:spPr bwMode="auto">
          <a:xfrm>
            <a:off x="829942" y="1402802"/>
            <a:ext cx="781738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我们需要容器来保存订单，同时容器需要满足的条件</a:t>
            </a:r>
            <a:endParaRPr lang="en-US" altLang="zh-CN" sz="2400" dirty="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400" dirty="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满足并发安全</a:t>
            </a:r>
            <a:endParaRPr lang="en-US" altLang="zh-CN" sz="2400" dirty="0" smtClean="0">
              <a:solidFill>
                <a:schemeClr val="accent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Font typeface="Wingdings" pitchFamily="2" charset="2"/>
              <a:buChar char="Ø"/>
            </a:pPr>
            <a:endParaRPr lang="zh-CN" altLang="en-US" sz="2400" dirty="0" smtClean="0">
              <a:solidFill>
                <a:schemeClr val="accent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和时间有关</a:t>
            </a:r>
            <a:endParaRPr lang="en-US" altLang="zh-CN" sz="2400" dirty="0" smtClean="0">
              <a:solidFill>
                <a:schemeClr val="accent1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buFont typeface="Wingdings" pitchFamily="2" charset="2"/>
              <a:buChar char="Ø"/>
            </a:pPr>
            <a:endParaRPr lang="en-US" altLang="zh-CN" sz="2400" dirty="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54475" y="6032295"/>
            <a:ext cx="16722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</a:pPr>
            <a:r>
              <a:rPr lang="zh-CN" altLang="en-US" sz="2000" b="1" smtClean="0">
                <a:latin typeface="微软雅黑" pitchFamily="34" charset="-122"/>
                <a:ea typeface="微软雅黑" pitchFamily="34" charset="-122"/>
              </a:rPr>
              <a:t>阻塞队列</a:t>
            </a:r>
            <a:endParaRPr lang="en-US" altLang="zh-CN" sz="2000" b="1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4412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A_矩形 3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9753" y="429533"/>
            <a:ext cx="5642598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加入</a:t>
            </a:r>
            <a:r>
              <a:rPr lang="en-US" altLang="zh-CN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DelayQueue</a:t>
            </a:r>
            <a:r>
              <a:rPr lang="zh-CN" altLang="en-US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后</a:t>
            </a:r>
          </a:p>
        </p:txBody>
      </p:sp>
      <p:grpSp>
        <p:nvGrpSpPr>
          <p:cNvPr id="2" name="PA_组合 47"/>
          <p:cNvGrpSpPr/>
          <p:nvPr>
            <p:custDataLst>
              <p:tags r:id="rId2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21486" y="1089587"/>
            <a:ext cx="5519835" cy="6090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右箭头 9"/>
          <p:cNvSpPr/>
          <p:nvPr/>
        </p:nvSpPr>
        <p:spPr>
          <a:xfrm rot="19320913">
            <a:off x="4993482" y="3429732"/>
            <a:ext cx="771337" cy="363875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6018" y="1505120"/>
            <a:ext cx="4474593" cy="2707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224412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A_矩形 3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9753" y="429533"/>
            <a:ext cx="8104685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同样的功能，架构师在实现的时候会怎么考虑？</a:t>
            </a:r>
          </a:p>
        </p:txBody>
      </p:sp>
      <p:grpSp>
        <p:nvGrpSpPr>
          <p:cNvPr id="2" name="PA_组合 47"/>
          <p:cNvGrpSpPr/>
          <p:nvPr>
            <p:custDataLst>
              <p:tags r:id="rId2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88732" y="1323975"/>
            <a:ext cx="199125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280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可用性</a:t>
            </a:r>
            <a:endParaRPr lang="en-US" altLang="zh-CN" sz="280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62088" y="1323975"/>
            <a:ext cx="199125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280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伸缩性</a:t>
            </a:r>
            <a:endParaRPr lang="en-US" altLang="zh-CN" sz="280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912443" y="1312949"/>
            <a:ext cx="199125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280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扩展性</a:t>
            </a:r>
            <a:endParaRPr lang="en-US" altLang="zh-CN" sz="2800" smtClean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7514" y="2497506"/>
            <a:ext cx="2020830" cy="1714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6200000">
            <a:off x="3540596" y="2427968"/>
            <a:ext cx="1300099" cy="182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040" name="AutoShape 8" descr="http://image.jijidown.com/v1/image?av=25344497&amp;url=https://i1.hdslb.com/bfs/archive/4205e7faaaa377e0561bc2a45c672a776d9d0020.jpg&amp;sign=73C39A10023361ACADCF7D61B5A10CDF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042" name="AutoShape 10" descr="http://image.jijidown.com/v1/image?av=25344497&amp;url=https://i1.hdslb.com/bfs/archive/4205e7faaaa377e0561bc2a45c672a776d9d0020.jpg&amp;sign=73C39A10023361ACADCF7D61B5A10CDF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194" name="Picture 2" descr="https://timgsa.baidu.com/timg?image&amp;quality=80&amp;size=b9999_10000&amp;sec=1572459097892&amp;di=f7f951c51a87ca6adda5d8127b3e4f57&amp;imgtype=0&amp;src=http%3A%2F%2Fn.sinaimg.cn%2Fcollect%2Fcrawl%2F20160115%2FD4GQ-fxnrahr8320208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84849" y="2463800"/>
            <a:ext cx="4537177" cy="2813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224412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560519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从系统可用性角度考虑</a:t>
            </a:r>
          </a:p>
        </p:txBody>
      </p:sp>
      <p:sp>
        <p:nvSpPr>
          <p:cNvPr id="11" name="矩形​​ 30"/>
          <p:cNvSpPr>
            <a:spLocks noChangeArrowheads="1"/>
          </p:cNvSpPr>
          <p:nvPr/>
        </p:nvSpPr>
        <p:spPr bwMode="auto">
          <a:xfrm>
            <a:off x="1052990" y="3398602"/>
            <a:ext cx="16149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解决之道</a:t>
            </a:r>
          </a:p>
        </p:txBody>
      </p:sp>
      <p:sp>
        <p:nvSpPr>
          <p:cNvPr id="12" name="矩形​​ 30"/>
          <p:cNvSpPr>
            <a:spLocks noChangeArrowheads="1"/>
          </p:cNvSpPr>
          <p:nvPr/>
        </p:nvSpPr>
        <p:spPr bwMode="auto">
          <a:xfrm>
            <a:off x="649790" y="1424855"/>
            <a:ext cx="53810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应用重启带来的问题</a:t>
            </a: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保存在</a:t>
            </a:r>
            <a:r>
              <a:rPr lang="en-US" altLang="zh-CN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Queue</a:t>
            </a:r>
            <a:r>
              <a:rPr lang="zh-CN" altLang="en-US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中的订单会丢失</a:t>
            </a:r>
            <a:endParaRPr lang="en-US" altLang="zh-CN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已过期的订单不会被处理</a:t>
            </a:r>
            <a:endParaRPr lang="en-US" altLang="zh-CN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6288" y="3386978"/>
            <a:ext cx="431795" cy="5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6068" y="4360986"/>
            <a:ext cx="6750671" cy="2795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914434" y="1006471"/>
            <a:ext cx="4019698" cy="6215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右箭头 21"/>
          <p:cNvSpPr/>
          <p:nvPr/>
        </p:nvSpPr>
        <p:spPr>
          <a:xfrm rot="789025">
            <a:off x="4650338" y="2376217"/>
            <a:ext cx="3841143" cy="292048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1" y="429533"/>
            <a:ext cx="7796523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从系统伸缩性角度考虑</a:t>
            </a:r>
          </a:p>
        </p:txBody>
      </p:sp>
      <p:sp>
        <p:nvSpPr>
          <p:cNvPr id="15" name="矩形​​ 30"/>
          <p:cNvSpPr>
            <a:spLocks noChangeArrowheads="1"/>
          </p:cNvSpPr>
          <p:nvPr/>
        </p:nvSpPr>
        <p:spPr bwMode="auto">
          <a:xfrm>
            <a:off x="4330052" y="1579228"/>
            <a:ext cx="4094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集群化了会带来什么问题？</a:t>
            </a:r>
          </a:p>
        </p:txBody>
      </p:sp>
      <p:sp>
        <p:nvSpPr>
          <p:cNvPr id="10" name="矩形 9"/>
          <p:cNvSpPr/>
          <p:nvPr/>
        </p:nvSpPr>
        <p:spPr>
          <a:xfrm>
            <a:off x="4764040" y="2369629"/>
            <a:ext cx="30168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mtClean="0"/>
              <a:t>应用之间会相互抢夺订单</a:t>
            </a:r>
            <a:endParaRPr lang="en-US" altLang="zh-CN" smtClean="0"/>
          </a:p>
          <a:p>
            <a:pPr>
              <a:buFont typeface="Wingdings" pitchFamily="2" charset="2"/>
              <a:buChar char="ü"/>
            </a:pPr>
            <a:endParaRPr lang="en-US" altLang="zh-CN" smtClean="0"/>
          </a:p>
          <a:p>
            <a:pPr>
              <a:buFont typeface="Wingdings" pitchFamily="2" charset="2"/>
              <a:buChar char="ü"/>
            </a:pPr>
            <a:r>
              <a:rPr lang="zh-CN" altLang="en-US" smtClean="0"/>
              <a:t>会导致服务器启动失败</a:t>
            </a:r>
            <a:endParaRPr lang="en-US" altLang="zh-CN" smtClean="0"/>
          </a:p>
        </p:txBody>
      </p:sp>
      <p:sp>
        <p:nvSpPr>
          <p:cNvPr id="9218" name="AutoShape 2" descr="http://img0.imgtn.bdimg.com/it/u=4134369305,1546294254&amp;fm=214&amp;gp=0.jpg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20" name="AutoShape 4" descr="http://img0.imgtn.bdimg.com/it/u=4134369305,1546294254&amp;fm=214&amp;gp=0.jpg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9097" y="1427934"/>
            <a:ext cx="3685982" cy="457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746347" y="4884744"/>
            <a:ext cx="405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18685" y="4928850"/>
            <a:ext cx="405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65286" y="4917824"/>
            <a:ext cx="405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48893" y="4917824"/>
            <a:ext cx="405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646306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从系统伸缩性角度考虑</a:t>
            </a:r>
          </a:p>
        </p:txBody>
      </p:sp>
      <p:sp>
        <p:nvSpPr>
          <p:cNvPr id="9218" name="AutoShape 2" descr="http://img0.imgtn.bdimg.com/it/u=4134369305,1546294254&amp;fm=214&amp;gp=0.jpg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20" name="AutoShape 4" descr="http://img0.imgtn.bdimg.com/it/u=4134369305,1546294254&amp;fm=214&amp;gp=0.jpg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​​ 30"/>
          <p:cNvSpPr>
            <a:spLocks noChangeArrowheads="1"/>
          </p:cNvSpPr>
          <p:nvPr/>
        </p:nvSpPr>
        <p:spPr bwMode="auto">
          <a:xfrm>
            <a:off x="1001517" y="1325617"/>
            <a:ext cx="496925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解决方案</a:t>
            </a:r>
            <a:endParaRPr lang="en-US" altLang="zh-CN" sz="2400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让应用分区</a:t>
            </a:r>
            <a:endParaRPr lang="en-US" altLang="zh-CN" smtClean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Ø"/>
            </a:pPr>
            <a:r>
              <a:rPr lang="zh-CN" altLang="en-US" smtClean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手动处理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680" y="1378314"/>
            <a:ext cx="521871" cy="63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75151" y="1075086"/>
            <a:ext cx="3685982" cy="457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圆角矩形 23"/>
          <p:cNvSpPr/>
          <p:nvPr/>
        </p:nvSpPr>
        <p:spPr>
          <a:xfrm>
            <a:off x="6871540" y="6560774"/>
            <a:ext cx="2178990" cy="6615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Zookeeper</a:t>
            </a:r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399711" y="5623521"/>
            <a:ext cx="772083" cy="8931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rot="16200000" flipH="1">
            <a:off x="7159040" y="6054161"/>
            <a:ext cx="771856" cy="4289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rot="5400000">
            <a:off x="8124144" y="6054767"/>
            <a:ext cx="771856" cy="857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rot="10800000" flipV="1">
            <a:off x="8776013" y="5722758"/>
            <a:ext cx="780664" cy="78288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574994" y="3870306"/>
            <a:ext cx="488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solidFill>
                  <a:srgbClr val="FF0000"/>
                </a:solidFill>
              </a:rPr>
              <a:t>主服务器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17887" y="58219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选主</a:t>
            </a:r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6202401" y="4531897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74739" y="457600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21341" y="4564976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4947" y="4564976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3"/>
            <a:ext cx="5951431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有没有更高大上的办法呢？</a:t>
            </a:r>
          </a:p>
        </p:txBody>
      </p:sp>
      <p:sp>
        <p:nvSpPr>
          <p:cNvPr id="31746" name="AutoShape 2" descr="http://img5.imgtn.bdimg.com/it/u=4256283369,3179378958&amp;fm=27&amp;gp=0.jpg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矩形 2"/>
          <p:cNvSpPr>
            <a:spLocks noChangeArrowheads="1"/>
          </p:cNvSpPr>
          <p:nvPr/>
        </p:nvSpPr>
        <p:spPr bwMode="auto">
          <a:xfrm>
            <a:off x="573458" y="1143549"/>
            <a:ext cx="9678091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2857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6858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限时订单的实现中数据库轮询有不足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JDK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的阻塞队列优雅的实现限时订单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endParaRPr lang="zh-CN" altLang="en-US" sz="18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作为架构师在实现的时候要考虑什么？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我们从系统可用性，系统伸缩性等角度对已有的实现进行升级改造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1930208" y="1907587"/>
            <a:ext cx="480407" cy="496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1987358" y="3038767"/>
            <a:ext cx="480407" cy="496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​​ 30"/>
          <p:cNvSpPr>
            <a:spLocks noChangeArrowheads="1"/>
          </p:cNvSpPr>
          <p:nvPr/>
        </p:nvSpPr>
        <p:spPr bwMode="auto">
          <a:xfrm>
            <a:off x="718420" y="4935593"/>
            <a:ext cx="628245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解决方案</a:t>
            </a:r>
            <a:endParaRPr lang="en-US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引入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RocketMQ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RocketMQ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中的延时消息</a:t>
            </a:r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05349" y="636587"/>
            <a:ext cx="4868408" cy="649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3" y="429533"/>
            <a:ext cx="8473569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667" dirty="0" err="1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RocketMQ</a:t>
            </a:r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实现限时订单</a:t>
            </a:r>
          </a:p>
        </p:txBody>
      </p:sp>
      <p:sp>
        <p:nvSpPr>
          <p:cNvPr id="31746" name="AutoShape 2" descr="http://img5.imgtn.bdimg.com/it/u=4256283369,3179378958&amp;fm=27&amp;gp=0.jpg"/>
          <p:cNvSpPr>
            <a:spLocks noChangeAspect="1" noChangeArrowheads="1"/>
          </p:cNvSpPr>
          <p:nvPr/>
        </p:nvSpPr>
        <p:spPr bwMode="auto">
          <a:xfrm>
            <a:off x="140119" y="-167236"/>
            <a:ext cx="274518" cy="352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83747" y="1632161"/>
            <a:ext cx="372150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5"/>
              </a:buBlip>
            </a:pP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整体流程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5"/>
              </a:buBlip>
            </a:pP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业务关键点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5"/>
              </a:buBlip>
            </a:pP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5"/>
              </a:buBlip>
            </a:pPr>
            <a:r>
              <a:rPr lang="en-US" altLang="zh-CN" sz="2000" b="1" dirty="0" err="1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RocketMQ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改造点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86550" y="1181100"/>
            <a:ext cx="1428750" cy="723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生产者</a:t>
            </a:r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4514850" y="4619624"/>
            <a:ext cx="1428750" cy="6572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消费者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600575" y="2724150"/>
            <a:ext cx="1000125" cy="31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延时消息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360MoveData\Users\Administrator\Documents\Tencent Files\2962938812\Image\Group\Image2\3K11F[LK[24}UJ95ZKSO%H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0978279" cy="793908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183056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en-US" altLang="zh-CN" sz="2667" dirty="0" err="1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RocketMQ</a:t>
            </a:r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的源码安装和调试</a:t>
            </a:r>
          </a:p>
        </p:txBody>
      </p:sp>
      <p:sp>
        <p:nvSpPr>
          <p:cNvPr id="9" name="矩形 8"/>
          <p:cNvSpPr/>
          <p:nvPr/>
        </p:nvSpPr>
        <p:spPr>
          <a:xfrm>
            <a:off x="183747" y="1632161"/>
            <a:ext cx="372150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源码下载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IDEA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中导入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运行和调试</a:t>
            </a:r>
            <a:r>
              <a:rPr lang="en-US" altLang="zh-CN" sz="2000" b="1" dirty="0" err="1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RocketMQ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183056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源码分析之消息的来龙去脉</a:t>
            </a:r>
          </a:p>
        </p:txBody>
      </p:sp>
      <p:pic>
        <p:nvPicPr>
          <p:cNvPr id="3" name="Picture 2" descr="E:\VIP二期\消息中间件\RocketMQ\img\2019011815102338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4150" y="2262188"/>
            <a:ext cx="10593388" cy="47863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183056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消息的生产</a:t>
            </a:r>
          </a:p>
        </p:txBody>
      </p:sp>
      <p:sp>
        <p:nvSpPr>
          <p:cNvPr id="9" name="矩形 8"/>
          <p:cNvSpPr/>
          <p:nvPr/>
        </p:nvSpPr>
        <p:spPr>
          <a:xfrm>
            <a:off x="307572" y="1279736"/>
            <a:ext cx="3721503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Client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中的消息发送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源码跟踪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核心关键点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消息重试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altLang="zh-CN" sz="1400" b="1" dirty="0" err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Netty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1847" y="4242011"/>
            <a:ext cx="372150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Broker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中接收到消息的处理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源码跟踪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核心关键点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altLang="zh-CN" sz="1400" b="1" dirty="0" err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commitlog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altLang="zh-CN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NIO</a:t>
            </a: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</a:t>
            </a:r>
            <a:r>
              <a:rPr lang="en-US" altLang="zh-CN" sz="1400" b="1" dirty="0" err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ByteBuffer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最后刷盘、</a:t>
            </a:r>
            <a:r>
              <a:rPr lang="en-US" altLang="zh-CN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HA</a:t>
            </a: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同步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46347" y="4184861"/>
            <a:ext cx="438825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Broker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中更新消息队列和索引文件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源码跟踪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核心关键点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sz="1400" dirty="0" err="1" smtClean="0"/>
              <a:t>ConsumeQueue</a:t>
            </a:r>
            <a:r>
              <a:rPr lang="zh-CN" altLang="en-US" sz="1400" dirty="0" smtClean="0"/>
              <a:t>与</a:t>
            </a:r>
            <a:r>
              <a:rPr lang="en-US" sz="1400" dirty="0" err="1" smtClean="0"/>
              <a:t>IndexFile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sz="1400" dirty="0" err="1" smtClean="0"/>
              <a:t>ReputMessageService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183056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消息的消费之主体流程</a:t>
            </a:r>
          </a:p>
        </p:txBody>
      </p:sp>
      <p:sp>
        <p:nvSpPr>
          <p:cNvPr id="9" name="矩形 8"/>
          <p:cNvSpPr/>
          <p:nvPr/>
        </p:nvSpPr>
        <p:spPr>
          <a:xfrm>
            <a:off x="336147" y="1870286"/>
            <a:ext cx="51788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zh-CN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Client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中的消费者启动流程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源码跟踪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核心关键点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sz="1400" dirty="0" err="1" smtClean="0"/>
              <a:t>DefaultMQPushConsumerImpl</a:t>
            </a:r>
            <a:endParaRPr lang="en-US" sz="1400" dirty="0" smtClean="0"/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启动步骤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sz="1400" dirty="0" err="1" smtClean="0"/>
              <a:t>NameServer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Topic</a:t>
            </a:r>
            <a:r>
              <a:rPr lang="zh-CN" altLang="en-US" sz="1400" dirty="0" smtClean="0"/>
              <a:t>更新定时任务</a:t>
            </a:r>
            <a:endParaRPr lang="en-US" sz="1400" dirty="0" smtClean="0"/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心跳、</a:t>
            </a:r>
            <a:r>
              <a:rPr lang="en-US" altLang="zh-CN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Offset</a:t>
            </a: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持久化定时任务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组合 47"/>
          <p:cNvGrpSpPr/>
          <p:nvPr>
            <p:custDataLst>
              <p:tags r:id="rId1"/>
            </p:custDataLst>
          </p:nvPr>
        </p:nvGrpSpPr>
        <p:grpSpPr>
          <a:xfrm>
            <a:off x="499751" y="1079758"/>
            <a:ext cx="1080291" cy="86463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srgbClr val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PA_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752" y="429533"/>
            <a:ext cx="6183056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9170"/>
            <a:r>
              <a:rPr lang="zh-CN" altLang="en-US" sz="2667" dirty="0" smtClean="0">
                <a:solidFill>
                  <a:srgbClr val="1D69A3"/>
                </a:solidFill>
                <a:latin typeface="微软雅黑" pitchFamily="34" charset="-122"/>
                <a:ea typeface="微软雅黑" pitchFamily="34" charset="-122"/>
              </a:rPr>
              <a:t>消息的消费之拉取与消费</a:t>
            </a:r>
          </a:p>
        </p:txBody>
      </p:sp>
      <p:sp>
        <p:nvSpPr>
          <p:cNvPr id="12" name="矩形 11"/>
          <p:cNvSpPr/>
          <p:nvPr/>
        </p:nvSpPr>
        <p:spPr>
          <a:xfrm>
            <a:off x="421872" y="4432511"/>
            <a:ext cx="700762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消息的消费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源码跟踪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核心关键点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sz="1400" dirty="0" err="1" smtClean="0"/>
              <a:t>consumeMessageService</a:t>
            </a:r>
            <a:endParaRPr lang="en-US" sz="1400" dirty="0" smtClean="0"/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消息消费进度、负载均衡、消费进度</a:t>
            </a: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管理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altLang="zh-CN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Retry</a:t>
            </a:r>
            <a:r>
              <a:rPr lang="zh-CN" altLang="en-US" sz="1400" b="1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的方式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1397" y="1470236"/>
            <a:ext cx="5874153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消息的拉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取（推模式）</a:t>
            </a:r>
            <a:endParaRPr lang="en-US" altLang="zh-CN" sz="2000" b="1" dirty="0" smtClean="0">
              <a:solidFill>
                <a:schemeClr val="accent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源码跟踪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核心关键点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en-US" sz="1400" dirty="0" err="1" smtClean="0"/>
              <a:t>pullMessageService</a:t>
            </a:r>
            <a:endParaRPr lang="en-US" sz="1400" dirty="0" smtClean="0"/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流量控制</a:t>
            </a:r>
            <a:endParaRPr lang="en-US" altLang="zh-CN" sz="1400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</a:t>
            </a:r>
            <a:endParaRPr lang="en-US" altLang="zh-CN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4704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890366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890406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890338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890583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890556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890243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1_Office 主题​​">
  <a:themeElements>
    <a:clrScheme name="自定义 1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1D69A3"/>
      </a:accent1>
      <a:accent2>
        <a:srgbClr val="84CBC3"/>
      </a:accent2>
      <a:accent3>
        <a:srgbClr val="F8D158"/>
      </a:accent3>
      <a:accent4>
        <a:srgbClr val="F57365"/>
      </a:accent4>
      <a:accent5>
        <a:srgbClr val="7FC9EC"/>
      </a:accent5>
      <a:accent6>
        <a:srgbClr val="8689D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3920</TotalTime>
  <Words>782</Words>
  <Application>WPS 演示</Application>
  <PresentationFormat>自定义</PresentationFormat>
  <Paragraphs>226</Paragraphs>
  <Slides>39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0" baseType="lpstr">
      <vt:lpstr>1_Office 主题​​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锐旗设计;https://9ppt.taobao.com</dc:creator>
  <cp:keywords>锐旗设计; https:/9ppt.taobao.com</cp:keywords>
  <cp:lastModifiedBy>Administrator</cp:lastModifiedBy>
  <cp:revision>12679</cp:revision>
  <dcterms:created xsi:type="dcterms:W3CDTF">2016-08-30T15:34:00Z</dcterms:created>
  <dcterms:modified xsi:type="dcterms:W3CDTF">2019-11-03T14:29:08Z</dcterms:modified>
  <cp:category>锐旗设计;https://9ppt.taobao.com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